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8" r:id="rId3"/>
    <p:sldId id="259" r:id="rId4"/>
    <p:sldId id="269" r:id="rId5"/>
    <p:sldId id="260" r:id="rId6"/>
    <p:sldId id="266" r:id="rId7"/>
    <p:sldId id="267" r:id="rId8"/>
    <p:sldId id="268"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ru-RU"/>
              <a:t>Образец заголовка</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52413D2D-A438-4407-BA8E-B6BA2E5AFBFF}" type="datetimeFigureOut">
              <a:rPr lang="ru-RU" smtClean="0"/>
              <a:t>26.12.2024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14FC54-095A-44F6-B479-03EFBCE15400}" type="slidenum">
              <a:rPr lang="ru-RU" smtClean="0"/>
              <a:t>‹#›</a:t>
            </a:fld>
            <a:endParaRPr lang="ru-R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8099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2413D2D-A438-4407-BA8E-B6BA2E5AFBFF}" type="datetimeFigureOut">
              <a:rPr lang="ru-RU" smtClean="0"/>
              <a:t>26.12.2024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14FC54-095A-44F6-B479-03EFBCE15400}" type="slidenum">
              <a:rPr lang="ru-RU" smtClean="0"/>
              <a:t>‹#›</a:t>
            </a:fld>
            <a:endParaRPr lang="ru-RU"/>
          </a:p>
        </p:txBody>
      </p:sp>
    </p:spTree>
    <p:extLst>
      <p:ext uri="{BB962C8B-B14F-4D97-AF65-F5344CB8AC3E}">
        <p14:creationId xmlns:p14="http://schemas.microsoft.com/office/powerpoint/2010/main" val="1320118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52413D2D-A438-4407-BA8E-B6BA2E5AFBFF}" type="datetimeFigureOut">
              <a:rPr lang="ru-RU" smtClean="0"/>
              <a:t>26.12.2024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14FC54-095A-44F6-B479-03EFBCE15400}" type="slidenum">
              <a:rPr lang="ru-RU" smtClean="0"/>
              <a:t>‹#›</a:t>
            </a:fld>
            <a:endParaRPr lang="ru-R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1785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52413D2D-A438-4407-BA8E-B6BA2E5AFBFF}" type="datetimeFigureOut">
              <a:rPr lang="ru-RU" smtClean="0"/>
              <a:t>26.12.2024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414FC54-095A-44F6-B479-03EFBCE15400}" type="slidenum">
              <a:rPr lang="ru-RU" smtClean="0"/>
              <a:t>‹#›</a:t>
            </a:fld>
            <a:endParaRPr lang="ru-RU"/>
          </a:p>
        </p:txBody>
      </p:sp>
    </p:spTree>
    <p:extLst>
      <p:ext uri="{BB962C8B-B14F-4D97-AF65-F5344CB8AC3E}">
        <p14:creationId xmlns:p14="http://schemas.microsoft.com/office/powerpoint/2010/main" val="3156621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9728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1792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52413D2D-A438-4407-BA8E-B6BA2E5AFBFF}" type="datetimeFigureOut">
              <a:rPr lang="ru-RU" smtClean="0"/>
              <a:t>26.12.2024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6414FC54-095A-44F6-B479-03EFBCE15400}" type="slidenum">
              <a:rPr lang="ru-RU" smtClean="0"/>
              <a:t>‹#›</a:t>
            </a:fld>
            <a:endParaRPr lang="ru-RU"/>
          </a:p>
        </p:txBody>
      </p:sp>
    </p:spTree>
    <p:extLst>
      <p:ext uri="{BB962C8B-B14F-4D97-AF65-F5344CB8AC3E}">
        <p14:creationId xmlns:p14="http://schemas.microsoft.com/office/powerpoint/2010/main" val="3079415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52413D2D-A438-4407-BA8E-B6BA2E5AFBFF}" type="datetimeFigureOut">
              <a:rPr lang="ru-RU" smtClean="0"/>
              <a:t>26.12.2024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6414FC54-095A-44F6-B479-03EFBCE15400}" type="slidenum">
              <a:rPr lang="ru-RU" smtClean="0"/>
              <a:t>‹#›</a:t>
            </a:fld>
            <a:endParaRPr lang="ru-RU"/>
          </a:p>
        </p:txBody>
      </p:sp>
    </p:spTree>
    <p:extLst>
      <p:ext uri="{BB962C8B-B14F-4D97-AF65-F5344CB8AC3E}">
        <p14:creationId xmlns:p14="http://schemas.microsoft.com/office/powerpoint/2010/main" val="392439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2413D2D-A438-4407-BA8E-B6BA2E5AFBFF}" type="datetimeFigureOut">
              <a:rPr lang="ru-RU" smtClean="0"/>
              <a:t>26.12.2024</a:t>
            </a:fld>
            <a:endParaRPr lang="ru-R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ru-RU"/>
          </a:p>
        </p:txBody>
      </p:sp>
      <p:sp>
        <p:nvSpPr>
          <p:cNvPr id="9" name="Slide Number Placeholder 8"/>
          <p:cNvSpPr>
            <a:spLocks noGrp="1"/>
          </p:cNvSpPr>
          <p:nvPr>
            <p:ph type="sldNum" sz="quarter" idx="12"/>
          </p:nvPr>
        </p:nvSpPr>
        <p:spPr/>
        <p:txBody>
          <a:bodyPr/>
          <a:lstStyle/>
          <a:p>
            <a:fld id="{6414FC54-095A-44F6-B479-03EFBCE15400}" type="slidenum">
              <a:rPr lang="ru-RU" smtClean="0"/>
              <a:t>‹#›</a:t>
            </a:fld>
            <a:endParaRPr lang="ru-RU"/>
          </a:p>
        </p:txBody>
      </p:sp>
    </p:spTree>
    <p:extLst>
      <p:ext uri="{BB962C8B-B14F-4D97-AF65-F5344CB8AC3E}">
        <p14:creationId xmlns:p14="http://schemas.microsoft.com/office/powerpoint/2010/main" val="2094922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ru-RU"/>
              <a:t>Образец заголовка</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2413D2D-A438-4407-BA8E-B6BA2E5AFBFF}" type="datetimeFigureOut">
              <a:rPr lang="ru-RU" smtClean="0"/>
              <a:t>26.12.2024</a:t>
            </a:fld>
            <a:endParaRPr lang="ru-R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ru-R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414FC54-095A-44F6-B479-03EFBCE15400}" type="slidenum">
              <a:rPr lang="ru-RU" smtClean="0"/>
              <a:t>‹#›</a:t>
            </a:fld>
            <a:endParaRPr lang="ru-RU"/>
          </a:p>
        </p:txBody>
      </p:sp>
    </p:spTree>
    <p:extLst>
      <p:ext uri="{BB962C8B-B14F-4D97-AF65-F5344CB8AC3E}">
        <p14:creationId xmlns:p14="http://schemas.microsoft.com/office/powerpoint/2010/main" val="1887852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52413D2D-A438-4407-BA8E-B6BA2E5AFBFF}" type="datetimeFigureOut">
              <a:rPr lang="ru-RU" smtClean="0"/>
              <a:t>26.12.2024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414FC54-095A-44F6-B479-03EFBCE15400}" type="slidenum">
              <a:rPr lang="ru-RU" smtClean="0"/>
              <a:t>‹#›</a:t>
            </a:fld>
            <a:endParaRPr lang="ru-RU"/>
          </a:p>
        </p:txBody>
      </p:sp>
    </p:spTree>
    <p:extLst>
      <p:ext uri="{BB962C8B-B14F-4D97-AF65-F5344CB8AC3E}">
        <p14:creationId xmlns:p14="http://schemas.microsoft.com/office/powerpoint/2010/main" val="5415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2413D2D-A438-4407-BA8E-B6BA2E5AFBFF}" type="datetimeFigureOut">
              <a:rPr lang="ru-RU" smtClean="0"/>
              <a:t>26.12.2024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14FC54-095A-44F6-B479-03EFBCE15400}" type="slidenum">
              <a:rPr lang="ru-RU" smtClean="0"/>
              <a:t>‹#›</a:t>
            </a:fld>
            <a:endParaRPr lang="ru-RU"/>
          </a:p>
        </p:txBody>
      </p:sp>
    </p:spTree>
    <p:extLst>
      <p:ext uri="{BB962C8B-B14F-4D97-AF65-F5344CB8AC3E}">
        <p14:creationId xmlns:p14="http://schemas.microsoft.com/office/powerpoint/2010/main" val="4252840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2413D2D-A438-4407-BA8E-B6BA2E5AFBFF}" type="datetimeFigureOut">
              <a:rPr lang="ru-RU" smtClean="0"/>
              <a:t>26.12.2024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14FC54-095A-44F6-B479-03EFBCE15400}" type="slidenum">
              <a:rPr lang="ru-RU" smtClean="0"/>
              <a:t>‹#›</a:t>
            </a:fld>
            <a:endParaRPr lang="ru-RU"/>
          </a:p>
        </p:txBody>
      </p:sp>
    </p:spTree>
    <p:extLst>
      <p:ext uri="{BB962C8B-B14F-4D97-AF65-F5344CB8AC3E}">
        <p14:creationId xmlns:p14="http://schemas.microsoft.com/office/powerpoint/2010/main" val="3796130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ru-RU"/>
              <a:t>Образец заголовка</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2413D2D-A438-4407-BA8E-B6BA2E5AFBFF}" type="datetimeFigureOut">
              <a:rPr lang="ru-RU" smtClean="0"/>
              <a:t>26.12.2024</a:t>
            </a:fld>
            <a:endParaRPr lang="ru-R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ru-R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414FC54-095A-44F6-B479-03EFBCE15400}" type="slidenum">
              <a:rPr lang="ru-RU" smtClean="0"/>
              <a:t>‹#›</a:t>
            </a:fld>
            <a:endParaRPr lang="ru-R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068504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2A97FD-5006-9190-57CE-C16736CF3A3E}"/>
              </a:ext>
            </a:extLst>
          </p:cNvPr>
          <p:cNvSpPr>
            <a:spLocks noGrp="1"/>
          </p:cNvSpPr>
          <p:nvPr>
            <p:ph type="ctrTitle"/>
          </p:nvPr>
        </p:nvSpPr>
        <p:spPr>
          <a:xfrm>
            <a:off x="1097280" y="758952"/>
            <a:ext cx="10058400" cy="1928264"/>
          </a:xfrm>
        </p:spPr>
        <p:txBody>
          <a:bodyPr>
            <a:normAutofit/>
          </a:bodyPr>
          <a:lstStyle/>
          <a:p>
            <a:pPr algn="ctr"/>
            <a:r>
              <a:rPr lang="ru-RU" sz="5000" dirty="0">
                <a:latin typeface="Times New Roman" panose="02020603050405020304" pitchFamily="18" charset="0"/>
                <a:cs typeface="Times New Roman" panose="02020603050405020304" pitchFamily="18" charset="0"/>
              </a:rPr>
              <a:t>Модели управления запасами</a:t>
            </a:r>
          </a:p>
        </p:txBody>
      </p:sp>
      <p:sp>
        <p:nvSpPr>
          <p:cNvPr id="5" name="TextBox 4">
            <a:extLst>
              <a:ext uri="{FF2B5EF4-FFF2-40B4-BE49-F238E27FC236}">
                <a16:creationId xmlns:a16="http://schemas.microsoft.com/office/drawing/2014/main" id="{77653785-B4A8-DB21-B84C-7B4EAF3D81BA}"/>
              </a:ext>
            </a:extLst>
          </p:cNvPr>
          <p:cNvSpPr txBox="1"/>
          <p:nvPr/>
        </p:nvSpPr>
        <p:spPr>
          <a:xfrm>
            <a:off x="5058126" y="4354676"/>
            <a:ext cx="6097554" cy="923330"/>
          </a:xfrm>
          <a:prstGeom prst="rect">
            <a:avLst/>
          </a:prstGeom>
          <a:noFill/>
        </p:spPr>
        <p:txBody>
          <a:bodyPr wrap="square">
            <a:spAutoFit/>
          </a:bodyPr>
          <a:lstStyle/>
          <a:p>
            <a:pPr algn="r"/>
            <a:r>
              <a:rPr lang="ru-RU" dirty="0">
                <a:latin typeface="Times New Roman" panose="02020603050405020304" pitchFamily="18" charset="0"/>
                <a:cs typeface="Times New Roman" panose="02020603050405020304" pitchFamily="18" charset="0"/>
              </a:rPr>
              <a:t>Чинин В.С. М-Б21</a:t>
            </a:r>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Научный руководитель: Ермаков С.В.</a:t>
            </a:r>
          </a:p>
          <a:p>
            <a:pPr algn="r"/>
            <a:r>
              <a:rPr lang="ru-RU" dirty="0">
                <a:latin typeface="Times New Roman" panose="02020603050405020304" pitchFamily="18" charset="0"/>
                <a:cs typeface="Times New Roman" panose="02020603050405020304" pitchFamily="18" charset="0"/>
              </a:rPr>
              <a:t>Прикладная математика и информатика</a:t>
            </a:r>
          </a:p>
        </p:txBody>
      </p:sp>
    </p:spTree>
    <p:extLst>
      <p:ext uri="{BB962C8B-B14F-4D97-AF65-F5344CB8AC3E}">
        <p14:creationId xmlns:p14="http://schemas.microsoft.com/office/powerpoint/2010/main" val="202251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A3DEF5-C1C3-293E-F358-BC820A5C42C9}"/>
              </a:ext>
            </a:extLst>
          </p:cNvPr>
          <p:cNvSpPr txBox="1"/>
          <p:nvPr/>
        </p:nvSpPr>
        <p:spPr>
          <a:xfrm>
            <a:off x="3345166" y="567245"/>
            <a:ext cx="5267885" cy="707886"/>
          </a:xfrm>
          <a:prstGeom prst="rect">
            <a:avLst/>
          </a:prstGeom>
          <a:noFill/>
        </p:spPr>
        <p:txBody>
          <a:bodyPr wrap="square" rtlCol="0">
            <a:spAutoFit/>
          </a:bodyPr>
          <a:lstStyle/>
          <a:p>
            <a:pPr algn="ctr"/>
            <a:r>
              <a:rPr lang="ru-RU" sz="4000" dirty="0">
                <a:latin typeface="Times New Roman" panose="02020603050405020304" pitchFamily="18" charset="0"/>
                <a:cs typeface="Times New Roman" panose="02020603050405020304" pitchFamily="18" charset="0"/>
              </a:rPr>
              <a:t>Цели и задачи НИР</a:t>
            </a:r>
            <a:endParaRPr lang="ru-RU" sz="2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D4A6326-223B-3C71-90EA-C90134D23D6E}"/>
              </a:ext>
            </a:extLst>
          </p:cNvPr>
          <p:cNvSpPr txBox="1"/>
          <p:nvPr/>
        </p:nvSpPr>
        <p:spPr>
          <a:xfrm>
            <a:off x="1358282" y="2201662"/>
            <a:ext cx="9241655" cy="1938992"/>
          </a:xfrm>
          <a:prstGeom prst="rect">
            <a:avLst/>
          </a:prstGeom>
          <a:noFill/>
        </p:spPr>
        <p:txBody>
          <a:bodyPr wrap="square" rtlCol="0">
            <a:spAutoFit/>
          </a:bodyPr>
          <a:lstStyle/>
          <a:p>
            <a:r>
              <a:rPr lang="ru-RU" sz="2400" dirty="0">
                <a:latin typeface="Times New Roman" panose="02020603050405020304" pitchFamily="18" charset="0"/>
                <a:cs typeface="Times New Roman" panose="02020603050405020304" pitchFamily="18" charset="0"/>
              </a:rPr>
              <a:t>Цель: Исследование моделей управления запасами</a:t>
            </a:r>
          </a:p>
          <a:p>
            <a:endParaRPr lang="ru-RU" sz="2400" dirty="0">
              <a:latin typeface="Times New Roman" panose="02020603050405020304" pitchFamily="18" charset="0"/>
              <a:cs typeface="Times New Roman" panose="02020603050405020304" pitchFamily="18" charset="0"/>
            </a:endParaRPr>
          </a:p>
          <a:p>
            <a:r>
              <a:rPr lang="ru-RU" sz="2400" dirty="0">
                <a:latin typeface="Times New Roman" panose="02020603050405020304" pitchFamily="18" charset="0"/>
                <a:cs typeface="Times New Roman" panose="02020603050405020304" pitchFamily="18" charset="0"/>
              </a:rPr>
              <a:t>Задачи: </a:t>
            </a:r>
          </a:p>
          <a:p>
            <a:pPr marL="342900" indent="-34290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Изучение детерминированных моделей управления запасами</a:t>
            </a:r>
          </a:p>
          <a:p>
            <a:pPr marL="342900" indent="-34290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Изучение вероятностных моделей управления запасами</a:t>
            </a:r>
          </a:p>
        </p:txBody>
      </p:sp>
    </p:spTree>
    <p:extLst>
      <p:ext uri="{BB962C8B-B14F-4D97-AF65-F5344CB8AC3E}">
        <p14:creationId xmlns:p14="http://schemas.microsoft.com/office/powerpoint/2010/main" val="3452373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E39A73-38F8-2957-A121-F6F155619992}"/>
              </a:ext>
            </a:extLst>
          </p:cNvPr>
          <p:cNvSpPr>
            <a:spLocks noGrp="1"/>
          </p:cNvSpPr>
          <p:nvPr>
            <p:ph type="title"/>
          </p:nvPr>
        </p:nvSpPr>
        <p:spPr>
          <a:xfrm>
            <a:off x="1066800" y="248714"/>
            <a:ext cx="10058400" cy="1047675"/>
          </a:xfrm>
        </p:spPr>
        <p:txBody>
          <a:bodyPr>
            <a:normAutofit/>
          </a:bodyPr>
          <a:lstStyle/>
          <a:p>
            <a:pPr algn="ctr"/>
            <a:r>
              <a:rPr lang="ru-RU" sz="4000" dirty="0">
                <a:latin typeface="Times New Roman" panose="02020603050405020304" pitchFamily="18" charset="0"/>
                <a:cs typeface="Times New Roman" panose="02020603050405020304" pitchFamily="18" charset="0"/>
              </a:rPr>
              <a:t>Роль управления запасами в экономике</a:t>
            </a:r>
          </a:p>
        </p:txBody>
      </p:sp>
      <p:sp>
        <p:nvSpPr>
          <p:cNvPr id="4" name="TextBox 3">
            <a:extLst>
              <a:ext uri="{FF2B5EF4-FFF2-40B4-BE49-F238E27FC236}">
                <a16:creationId xmlns:a16="http://schemas.microsoft.com/office/drawing/2014/main" id="{C463E2F4-32A0-8339-24B1-2DD42501D353}"/>
              </a:ext>
            </a:extLst>
          </p:cNvPr>
          <p:cNvSpPr txBox="1"/>
          <p:nvPr/>
        </p:nvSpPr>
        <p:spPr>
          <a:xfrm>
            <a:off x="1198485" y="1953087"/>
            <a:ext cx="9926715" cy="2707857"/>
          </a:xfrm>
          <a:prstGeom prst="rect">
            <a:avLst/>
          </a:prstGeom>
          <a:noFill/>
        </p:spPr>
        <p:txBody>
          <a:bodyPr wrap="square" rtlCol="0">
            <a:spAutoFit/>
          </a:bodyPr>
          <a:lstStyle/>
          <a:p>
            <a:pPr algn="just">
              <a:lnSpc>
                <a:spcPct val="137000"/>
              </a:lnSpc>
            </a:pPr>
            <a:r>
              <a:rPr lang="ru-RU" sz="1800" dirty="0">
                <a:effectLst/>
                <a:latin typeface="Times New Roman" panose="02020603050405020304" pitchFamily="18" charset="0"/>
                <a:ea typeface="Times New Roman" panose="02020603050405020304" pitchFamily="18" charset="0"/>
              </a:rPr>
              <a:t>Управление запасами — одна из ключевых задач для любой экономической системы, будь то крупное промышленное предприятие, торговая сеть или логистическая компания. Правильно организованное управление запасами позволяет поддерживать оптимальный уровень продукции на складах, удовлетворять спрос потребителей и одновременно минимизировать издержки, связанные с хранением, поставками и возможными потерями от дефицита. В условиях глобализации и высокой неопределенности рыночной среды, вызванной изменениями спроса, колебаниями цен и внешними экономическими факторами, эта задача становится особенно актуальной.</a:t>
            </a:r>
          </a:p>
        </p:txBody>
      </p:sp>
    </p:spTree>
    <p:extLst>
      <p:ext uri="{BB962C8B-B14F-4D97-AF65-F5344CB8AC3E}">
        <p14:creationId xmlns:p14="http://schemas.microsoft.com/office/powerpoint/2010/main" val="2277403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516BF5-88A6-E087-0B1C-43CA16A280B2}"/>
              </a:ext>
            </a:extLst>
          </p:cNvPr>
          <p:cNvSpPr>
            <a:spLocks noGrp="1"/>
          </p:cNvSpPr>
          <p:nvPr>
            <p:ph type="title"/>
          </p:nvPr>
        </p:nvSpPr>
        <p:spPr>
          <a:xfrm>
            <a:off x="1066800" y="289903"/>
            <a:ext cx="10058400" cy="1003574"/>
          </a:xfrm>
        </p:spPr>
        <p:txBody>
          <a:bodyPr>
            <a:normAutofit/>
          </a:bodyPr>
          <a:lstStyle/>
          <a:p>
            <a:pPr algn="ctr"/>
            <a:r>
              <a:rPr lang="ru-RU" sz="4000" dirty="0">
                <a:latin typeface="Times New Roman" panose="02020603050405020304" pitchFamily="18" charset="0"/>
                <a:cs typeface="Times New Roman" panose="02020603050405020304" pitchFamily="18" charset="0"/>
              </a:rPr>
              <a:t>Классификация моделей</a:t>
            </a:r>
          </a:p>
        </p:txBody>
      </p:sp>
      <p:pic>
        <p:nvPicPr>
          <p:cNvPr id="7" name="Рисунок 6">
            <a:extLst>
              <a:ext uri="{FF2B5EF4-FFF2-40B4-BE49-F238E27FC236}">
                <a16:creationId xmlns:a16="http://schemas.microsoft.com/office/drawing/2014/main" id="{AD12836E-B722-FF60-4D90-C76D9BB3D39F}"/>
              </a:ext>
            </a:extLst>
          </p:cNvPr>
          <p:cNvPicPr>
            <a:picLocks noChangeAspect="1"/>
          </p:cNvPicPr>
          <p:nvPr/>
        </p:nvPicPr>
        <p:blipFill>
          <a:blip r:embed="rId2"/>
          <a:stretch>
            <a:fillRect/>
          </a:stretch>
        </p:blipFill>
        <p:spPr>
          <a:xfrm>
            <a:off x="3142908" y="1802166"/>
            <a:ext cx="5635384" cy="4472969"/>
          </a:xfrm>
          <a:prstGeom prst="rect">
            <a:avLst/>
          </a:prstGeom>
        </p:spPr>
      </p:pic>
    </p:spTree>
    <p:extLst>
      <p:ext uri="{BB962C8B-B14F-4D97-AF65-F5344CB8AC3E}">
        <p14:creationId xmlns:p14="http://schemas.microsoft.com/office/powerpoint/2010/main" val="3967447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DCBA3B-DF71-F0FC-AB61-70048CF5B0A2}"/>
              </a:ext>
            </a:extLst>
          </p:cNvPr>
          <p:cNvSpPr>
            <a:spLocks noGrp="1"/>
          </p:cNvSpPr>
          <p:nvPr>
            <p:ph type="title"/>
          </p:nvPr>
        </p:nvSpPr>
        <p:spPr>
          <a:xfrm>
            <a:off x="1066800" y="602574"/>
            <a:ext cx="10058400" cy="917046"/>
          </a:xfrm>
        </p:spPr>
        <p:txBody>
          <a:bodyPr>
            <a:noAutofit/>
          </a:bodyPr>
          <a:lstStyle/>
          <a:p>
            <a:pPr algn="ctr"/>
            <a:r>
              <a:rPr lang="ru-RU" sz="4000" dirty="0">
                <a:latin typeface="Times New Roman" panose="02020603050405020304" pitchFamily="18" charset="0"/>
                <a:cs typeface="Times New Roman" panose="02020603050405020304" pitchFamily="18" charset="0"/>
              </a:rPr>
              <a:t>Классическая задача экономичного размера заказа</a:t>
            </a:r>
          </a:p>
        </p:txBody>
      </p:sp>
      <p:sp>
        <p:nvSpPr>
          <p:cNvPr id="6" name="TextBox 5">
            <a:extLst>
              <a:ext uri="{FF2B5EF4-FFF2-40B4-BE49-F238E27FC236}">
                <a16:creationId xmlns:a16="http://schemas.microsoft.com/office/drawing/2014/main" id="{F901CE35-9929-4D32-5303-303721212FFE}"/>
              </a:ext>
            </a:extLst>
          </p:cNvPr>
          <p:cNvSpPr txBox="1"/>
          <p:nvPr/>
        </p:nvSpPr>
        <p:spPr>
          <a:xfrm>
            <a:off x="1066801" y="2237173"/>
            <a:ext cx="10465292" cy="369332"/>
          </a:xfrm>
          <a:prstGeom prst="rect">
            <a:avLst/>
          </a:prstGeom>
          <a:noFill/>
        </p:spPr>
        <p:txBody>
          <a:bodyPr wrap="square" rtlCol="0">
            <a:spAutoFit/>
          </a:bodyPr>
          <a:lstStyle/>
          <a:p>
            <a:pPr marL="285750" indent="-285750">
              <a:buFont typeface="Arial" panose="020B0604020202020204" pitchFamily="34" charset="0"/>
              <a:buChar char="•"/>
            </a:pPr>
            <a:endParaRPr lang="ru-RU" dirty="0">
              <a:latin typeface="Times New Roman" panose="02020603050405020304" pitchFamily="18" charset="0"/>
              <a:cs typeface="Times New Roman" panose="02020603050405020304" pitchFamily="18" charset="0"/>
            </a:endParaRPr>
          </a:p>
        </p:txBody>
      </p:sp>
      <p:pic>
        <p:nvPicPr>
          <p:cNvPr id="4" name="Рисунок 3">
            <a:extLst>
              <a:ext uri="{FF2B5EF4-FFF2-40B4-BE49-F238E27FC236}">
                <a16:creationId xmlns:a16="http://schemas.microsoft.com/office/drawing/2014/main" id="{EEA17E88-9913-1233-1EC2-0761148FE68B}"/>
              </a:ext>
            </a:extLst>
          </p:cNvPr>
          <p:cNvPicPr>
            <a:picLocks noChangeAspect="1"/>
          </p:cNvPicPr>
          <p:nvPr/>
        </p:nvPicPr>
        <p:blipFill>
          <a:blip r:embed="rId2"/>
          <a:stretch>
            <a:fillRect/>
          </a:stretch>
        </p:blipFill>
        <p:spPr>
          <a:xfrm>
            <a:off x="295749" y="2292658"/>
            <a:ext cx="6364493" cy="2388093"/>
          </a:xfrm>
          <a:prstGeom prst="rect">
            <a:avLst/>
          </a:prstGeom>
        </p:spPr>
      </p:pic>
      <p:sp>
        <p:nvSpPr>
          <p:cNvPr id="3" name="TextBox 2">
            <a:extLst>
              <a:ext uri="{FF2B5EF4-FFF2-40B4-BE49-F238E27FC236}">
                <a16:creationId xmlns:a16="http://schemas.microsoft.com/office/drawing/2014/main" id="{096C2026-C362-3208-9891-171FB613A93C}"/>
              </a:ext>
            </a:extLst>
          </p:cNvPr>
          <p:cNvSpPr txBox="1"/>
          <p:nvPr/>
        </p:nvSpPr>
        <p:spPr>
          <a:xfrm>
            <a:off x="6978843" y="1979721"/>
            <a:ext cx="4234648" cy="3139321"/>
          </a:xfrm>
          <a:prstGeom prst="rect">
            <a:avLst/>
          </a:prstGeom>
          <a:noFill/>
        </p:spPr>
        <p:txBody>
          <a:bodyPr wrap="square" rtlCol="0">
            <a:spAutoFit/>
          </a:bodyPr>
          <a:lstStyle/>
          <a:p>
            <a:pPr algn="just"/>
            <a:r>
              <a:rPr lang="ru-RU" dirty="0">
                <a:latin typeface="Times New Roman" panose="02020603050405020304" pitchFamily="18" charset="0"/>
                <a:cs typeface="Times New Roman" panose="02020603050405020304" pitchFamily="18" charset="0"/>
              </a:rPr>
              <a:t>Классическая модель экономичного размера заказа является основой управления запасами, направленной на оптимизацию затрат на хранение и заказ товаров. Она предполагает фиксированный спрос на товар, известные затраты на размещение заказа и хранение единицы товара. Основная цель этой модели — определить оптимальный объем заказа, который минимизирует общие затраты.</a:t>
            </a:r>
          </a:p>
        </p:txBody>
      </p:sp>
    </p:spTree>
    <p:extLst>
      <p:ext uri="{BB962C8B-B14F-4D97-AF65-F5344CB8AC3E}">
        <p14:creationId xmlns:p14="http://schemas.microsoft.com/office/powerpoint/2010/main" val="328083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ACB4E2-4C1E-8AAF-E2BB-01C1E16BA1A2}"/>
              </a:ext>
            </a:extLst>
          </p:cNvPr>
          <p:cNvSpPr>
            <a:spLocks noGrp="1"/>
          </p:cNvSpPr>
          <p:nvPr>
            <p:ph type="title"/>
          </p:nvPr>
        </p:nvSpPr>
        <p:spPr>
          <a:xfrm>
            <a:off x="1097280" y="286604"/>
            <a:ext cx="10058400" cy="917046"/>
          </a:xfrm>
        </p:spPr>
        <p:txBody>
          <a:bodyPr>
            <a:normAutofit/>
          </a:bodyPr>
          <a:lstStyle/>
          <a:p>
            <a:pPr algn="ctr"/>
            <a:r>
              <a:rPr lang="ru-RU" sz="4000" dirty="0">
                <a:latin typeface="Times New Roman" panose="02020603050405020304" pitchFamily="18" charset="0"/>
                <a:cs typeface="Times New Roman" panose="02020603050405020304" pitchFamily="18" charset="0"/>
              </a:rPr>
              <a:t>Рандомизированная модель</a:t>
            </a:r>
          </a:p>
        </p:txBody>
      </p:sp>
      <p:sp>
        <p:nvSpPr>
          <p:cNvPr id="3" name="TextBox 2">
            <a:extLst>
              <a:ext uri="{FF2B5EF4-FFF2-40B4-BE49-F238E27FC236}">
                <a16:creationId xmlns:a16="http://schemas.microsoft.com/office/drawing/2014/main" id="{C43CBF67-29A1-F1E7-E0DE-2F012426FAA4}"/>
              </a:ext>
            </a:extLst>
          </p:cNvPr>
          <p:cNvSpPr txBox="1"/>
          <p:nvPr/>
        </p:nvSpPr>
        <p:spPr>
          <a:xfrm>
            <a:off x="1198485" y="2334827"/>
            <a:ext cx="9957195" cy="369332"/>
          </a:xfrm>
          <a:prstGeom prst="rect">
            <a:avLst/>
          </a:prstGeom>
          <a:noFill/>
        </p:spPr>
        <p:txBody>
          <a:bodyPr wrap="square" rtlCol="0">
            <a:spAutoFit/>
          </a:bodyPr>
          <a:lstStyle/>
          <a:p>
            <a:pPr marL="285750" indent="-285750">
              <a:buFont typeface="Arial" panose="020B0604020202020204" pitchFamily="34" charset="0"/>
              <a:buChar char="•"/>
            </a:pPr>
            <a:endParaRPr lang="ru-RU" sz="1800" dirty="0">
              <a:effectLst/>
              <a:latin typeface="Times New Roman" panose="02020603050405020304" pitchFamily="18" charset="0"/>
              <a:ea typeface="Times New Roman" panose="02020603050405020304" pitchFamily="18" charset="0"/>
            </a:endParaRPr>
          </a:p>
        </p:txBody>
      </p:sp>
      <p:pic>
        <p:nvPicPr>
          <p:cNvPr id="5" name="Рисунок 4">
            <a:extLst>
              <a:ext uri="{FF2B5EF4-FFF2-40B4-BE49-F238E27FC236}">
                <a16:creationId xmlns:a16="http://schemas.microsoft.com/office/drawing/2014/main" id="{508199F5-A92F-FDFE-78C7-1EB277385CA2}"/>
              </a:ext>
            </a:extLst>
          </p:cNvPr>
          <p:cNvPicPr>
            <a:picLocks noChangeAspect="1"/>
          </p:cNvPicPr>
          <p:nvPr/>
        </p:nvPicPr>
        <p:blipFill>
          <a:blip r:embed="rId2"/>
          <a:stretch>
            <a:fillRect/>
          </a:stretch>
        </p:blipFill>
        <p:spPr>
          <a:xfrm>
            <a:off x="355107" y="2092912"/>
            <a:ext cx="6015831" cy="3051150"/>
          </a:xfrm>
          <a:prstGeom prst="rect">
            <a:avLst/>
          </a:prstGeom>
        </p:spPr>
      </p:pic>
      <p:sp>
        <p:nvSpPr>
          <p:cNvPr id="6" name="TextBox 5">
            <a:extLst>
              <a:ext uri="{FF2B5EF4-FFF2-40B4-BE49-F238E27FC236}">
                <a16:creationId xmlns:a16="http://schemas.microsoft.com/office/drawing/2014/main" id="{5543CEF9-F033-772D-A571-F7199D985883}"/>
              </a:ext>
            </a:extLst>
          </p:cNvPr>
          <p:cNvSpPr txBox="1"/>
          <p:nvPr/>
        </p:nvSpPr>
        <p:spPr>
          <a:xfrm>
            <a:off x="6560600" y="1823342"/>
            <a:ext cx="4595080" cy="4247317"/>
          </a:xfrm>
          <a:prstGeom prst="rect">
            <a:avLst/>
          </a:prstGeom>
          <a:noFill/>
        </p:spPr>
        <p:txBody>
          <a:bodyPr wrap="square" rtlCol="0">
            <a:spAutoFit/>
          </a:bodyPr>
          <a:lstStyle/>
          <a:p>
            <a:pPr algn="just"/>
            <a:r>
              <a:rPr lang="ru-RU" dirty="0">
                <a:latin typeface="Times New Roman" panose="02020603050405020304" pitchFamily="18" charset="0"/>
                <a:cs typeface="Times New Roman" panose="02020603050405020304" pitchFamily="18" charset="0"/>
              </a:rPr>
              <a:t>Рандомизированная модель расширяет классическую модель, вводя элемент неопределенности в процесс управления запасами. В этой модели предполагается, что спрос может варьироваться в зависимости от случайных факторов, что делает прогнозирование более сложным. Рандомизированный подход позволяет учитывать различные сценарии спроса, что дает возможность более гибко реагировать на изменения рынка. Например, компании могут использовать стратегии, основанные на вероятностных распределениях, чтобы определять оптимальные размеры заказов в условиях неопределенности.</a:t>
            </a:r>
          </a:p>
        </p:txBody>
      </p:sp>
    </p:spTree>
    <p:extLst>
      <p:ext uri="{BB962C8B-B14F-4D97-AF65-F5344CB8AC3E}">
        <p14:creationId xmlns:p14="http://schemas.microsoft.com/office/powerpoint/2010/main" val="3871325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ACB4E2-4C1E-8AAF-E2BB-01C1E16BA1A2}"/>
              </a:ext>
            </a:extLst>
          </p:cNvPr>
          <p:cNvSpPr>
            <a:spLocks noGrp="1"/>
          </p:cNvSpPr>
          <p:nvPr>
            <p:ph type="title"/>
          </p:nvPr>
        </p:nvSpPr>
        <p:spPr>
          <a:xfrm>
            <a:off x="1097280" y="286604"/>
            <a:ext cx="10058400" cy="917046"/>
          </a:xfrm>
        </p:spPr>
        <p:txBody>
          <a:bodyPr>
            <a:normAutofit/>
          </a:bodyPr>
          <a:lstStyle/>
          <a:p>
            <a:pPr algn="ctr"/>
            <a:r>
              <a:rPr lang="ru-RU" sz="4000" dirty="0">
                <a:latin typeface="Times New Roman" panose="02020603050405020304" pitchFamily="18" charset="0"/>
                <a:cs typeface="Times New Roman" panose="02020603050405020304" pitchFamily="18" charset="0"/>
              </a:rPr>
              <a:t>Стохастическая модель</a:t>
            </a:r>
          </a:p>
        </p:txBody>
      </p:sp>
      <p:pic>
        <p:nvPicPr>
          <p:cNvPr id="5" name="Рисунок 4">
            <a:extLst>
              <a:ext uri="{FF2B5EF4-FFF2-40B4-BE49-F238E27FC236}">
                <a16:creationId xmlns:a16="http://schemas.microsoft.com/office/drawing/2014/main" id="{D450326D-66D7-57CD-F4CD-4E1844B2484C}"/>
              </a:ext>
            </a:extLst>
          </p:cNvPr>
          <p:cNvPicPr>
            <a:picLocks noChangeAspect="1"/>
          </p:cNvPicPr>
          <p:nvPr/>
        </p:nvPicPr>
        <p:blipFill>
          <a:blip r:embed="rId2"/>
          <a:stretch>
            <a:fillRect/>
          </a:stretch>
        </p:blipFill>
        <p:spPr>
          <a:xfrm>
            <a:off x="355107" y="2027312"/>
            <a:ext cx="5663877" cy="3254902"/>
          </a:xfrm>
          <a:prstGeom prst="rect">
            <a:avLst/>
          </a:prstGeom>
        </p:spPr>
      </p:pic>
      <p:sp>
        <p:nvSpPr>
          <p:cNvPr id="3" name="TextBox 2">
            <a:extLst>
              <a:ext uri="{FF2B5EF4-FFF2-40B4-BE49-F238E27FC236}">
                <a16:creationId xmlns:a16="http://schemas.microsoft.com/office/drawing/2014/main" id="{C03036D5-5CCD-CDD4-95E1-86F530BD396C}"/>
              </a:ext>
            </a:extLst>
          </p:cNvPr>
          <p:cNvSpPr txBox="1"/>
          <p:nvPr/>
        </p:nvSpPr>
        <p:spPr>
          <a:xfrm>
            <a:off x="6409678" y="1819923"/>
            <a:ext cx="4746002" cy="3970318"/>
          </a:xfrm>
          <a:prstGeom prst="rect">
            <a:avLst/>
          </a:prstGeom>
          <a:noFill/>
        </p:spPr>
        <p:txBody>
          <a:bodyPr wrap="square" rtlCol="0">
            <a:spAutoFit/>
          </a:bodyPr>
          <a:lstStyle/>
          <a:p>
            <a:pPr algn="just"/>
            <a:r>
              <a:rPr lang="ru-RU" b="0" i="0" dirty="0">
                <a:solidFill>
                  <a:srgbClr val="24292F"/>
                </a:solidFill>
                <a:effectLst/>
                <a:latin typeface="Times New Roman" panose="02020603050405020304" pitchFamily="18" charset="0"/>
                <a:cs typeface="Times New Roman" panose="02020603050405020304" pitchFamily="18" charset="0"/>
              </a:rPr>
              <a:t>Стохастическая модель представляет собой дальнейшее развитие рандомизированной модели, акцентируя внимание на вероятностных аспектах спроса и поставок. В этой модели спрос и время доставки рассматриваются как случайные переменные, что позволяет более точно моделировать реальные условия, с которыми сталкиваются предприятия. Стохастическая модель помогает оптимизировать запасы, учитывая не только средние значения, но и вариации спроса и поставок, что позволяет минимизировать риски недостатка или избытка запасов.</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299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7D53D7-1F05-9AB5-FA09-BB4AFA83EFD1}"/>
              </a:ext>
            </a:extLst>
          </p:cNvPr>
          <p:cNvSpPr>
            <a:spLocks noGrp="1"/>
          </p:cNvSpPr>
          <p:nvPr>
            <p:ph type="title"/>
          </p:nvPr>
        </p:nvSpPr>
        <p:spPr>
          <a:xfrm>
            <a:off x="1066800" y="195121"/>
            <a:ext cx="10058400" cy="989118"/>
          </a:xfrm>
        </p:spPr>
        <p:txBody>
          <a:bodyPr>
            <a:normAutofit/>
          </a:bodyPr>
          <a:lstStyle/>
          <a:p>
            <a:pPr algn="ctr"/>
            <a:r>
              <a:rPr lang="ru-RU" sz="4000" dirty="0">
                <a:latin typeface="Times New Roman" panose="02020603050405020304" pitchFamily="18" charset="0"/>
                <a:cs typeface="Times New Roman" panose="02020603050405020304" pitchFamily="18" charset="0"/>
              </a:rPr>
              <a:t>Заключение</a:t>
            </a:r>
          </a:p>
        </p:txBody>
      </p:sp>
      <p:sp>
        <p:nvSpPr>
          <p:cNvPr id="9" name="TextBox 8">
            <a:extLst>
              <a:ext uri="{FF2B5EF4-FFF2-40B4-BE49-F238E27FC236}">
                <a16:creationId xmlns:a16="http://schemas.microsoft.com/office/drawing/2014/main" id="{450AA82C-543F-82EB-8A7D-9ED581B7CEE3}"/>
              </a:ext>
            </a:extLst>
          </p:cNvPr>
          <p:cNvSpPr txBox="1"/>
          <p:nvPr/>
        </p:nvSpPr>
        <p:spPr>
          <a:xfrm>
            <a:off x="1097281" y="1862416"/>
            <a:ext cx="10058399" cy="4154984"/>
          </a:xfrm>
          <a:prstGeom prst="rect">
            <a:avLst/>
          </a:prstGeom>
          <a:noFill/>
        </p:spPr>
        <p:txBody>
          <a:bodyPr wrap="square" rtlCol="0">
            <a:spAutoFit/>
          </a:bodyPr>
          <a:lstStyle/>
          <a:p>
            <a:pPr algn="l">
              <a:spcAft>
                <a:spcPts val="1200"/>
              </a:spcAft>
            </a:pPr>
            <a:r>
              <a:rPr lang="ru-RU" b="0" i="0" dirty="0">
                <a:solidFill>
                  <a:srgbClr val="24292F"/>
                </a:solidFill>
                <a:effectLst/>
                <a:latin typeface="Times New Roman" panose="02020603050405020304" pitchFamily="18" charset="0"/>
                <a:cs typeface="Times New Roman" panose="02020603050405020304" pitchFamily="18" charset="0"/>
              </a:rPr>
              <a:t>В ходе исследования моделей управления запасами были рассмотрены ключевые концепции, включая классическую модель экономичного размера заказа, рандомизированную и стохастические модели. Каждая из этих моделей предлагает уникальный подход к управлению запасами, позволяя компаниям эффективно реагировать на изменения спроса и поставок.</a:t>
            </a:r>
          </a:p>
          <a:p>
            <a:pPr algn="just">
              <a:spcAft>
                <a:spcPts val="1200"/>
              </a:spcAft>
            </a:pPr>
            <a:r>
              <a:rPr lang="ru-RU" b="0" i="0" dirty="0">
                <a:solidFill>
                  <a:srgbClr val="24292F"/>
                </a:solidFill>
                <a:effectLst/>
                <a:latin typeface="Times New Roman" panose="02020603050405020304" pitchFamily="18" charset="0"/>
                <a:cs typeface="Times New Roman" panose="02020603050405020304" pitchFamily="18" charset="0"/>
              </a:rPr>
              <a:t>Классическая модель служит основой для понимания оптимизации затрат на хранение и заказ, в то время как рандомизированные и стохастические модели учитывают неопределенность и вариабельность в реальных условиях рынка. Эти модели помогают предприятиям минимизировать риски, связанные с дефицитом или избытком запасов, и обеспечивают более гибкие стратегии управления.</a:t>
            </a:r>
          </a:p>
          <a:p>
            <a:pPr algn="l">
              <a:spcAft>
                <a:spcPts val="1200"/>
              </a:spcAft>
            </a:pPr>
            <a:r>
              <a:rPr lang="ru-RU" b="0" i="0" dirty="0">
                <a:solidFill>
                  <a:srgbClr val="24292F"/>
                </a:solidFill>
                <a:effectLst/>
                <a:latin typeface="Times New Roman" panose="02020603050405020304" pitchFamily="18" charset="0"/>
                <a:cs typeface="Times New Roman" panose="02020603050405020304" pitchFamily="18" charset="0"/>
              </a:rPr>
              <a:t>Таким образом, изучение и применение различных моделей управления запасами является важным аспектом эффективного операционного менеджмента, способствующим повышению конкурентоспособности и устойчивости бизнеса в условиях динамичной экономики.</a:t>
            </a:r>
          </a:p>
          <a:p>
            <a:endParaRPr lang="ru-RU" dirty="0"/>
          </a:p>
        </p:txBody>
      </p:sp>
    </p:spTree>
    <p:extLst>
      <p:ext uri="{BB962C8B-B14F-4D97-AF65-F5344CB8AC3E}">
        <p14:creationId xmlns:p14="http://schemas.microsoft.com/office/powerpoint/2010/main" val="813400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8F41D4-9566-593C-6ED1-0446AAE1C1D7}"/>
              </a:ext>
            </a:extLst>
          </p:cNvPr>
          <p:cNvSpPr txBox="1"/>
          <p:nvPr/>
        </p:nvSpPr>
        <p:spPr>
          <a:xfrm>
            <a:off x="3002901" y="2519266"/>
            <a:ext cx="6783355" cy="830997"/>
          </a:xfrm>
          <a:prstGeom prst="rect">
            <a:avLst/>
          </a:prstGeom>
          <a:noFill/>
        </p:spPr>
        <p:txBody>
          <a:bodyPr wrap="square" rtlCol="0">
            <a:spAutoFit/>
          </a:bodyPr>
          <a:lstStyle/>
          <a:p>
            <a:r>
              <a:rPr lang="ru-RU" sz="4800" dirty="0"/>
              <a:t>Спасибо за внимание!</a:t>
            </a:r>
          </a:p>
        </p:txBody>
      </p:sp>
    </p:spTree>
    <p:extLst>
      <p:ext uri="{BB962C8B-B14F-4D97-AF65-F5344CB8AC3E}">
        <p14:creationId xmlns:p14="http://schemas.microsoft.com/office/powerpoint/2010/main" val="935684228"/>
      </p:ext>
    </p:extLst>
  </p:cSld>
  <p:clrMapOvr>
    <a:masterClrMapping/>
  </p:clrMapOvr>
</p:sld>
</file>

<file path=ppt/theme/theme1.xml><?xml version="1.0" encoding="utf-8"?>
<a:theme xmlns:a="http://schemas.openxmlformats.org/drawingml/2006/main" name="Ретро">
  <a:themeElements>
    <a:clrScheme name="Ретр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Ретр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778</TotalTime>
  <Words>466</Words>
  <Application>Microsoft Office PowerPoint</Application>
  <PresentationFormat>Широкоэкранный</PresentationFormat>
  <Paragraphs>23</Paragraphs>
  <Slides>9</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9</vt:i4>
      </vt:variant>
    </vt:vector>
  </HeadingPairs>
  <TitlesOfParts>
    <vt:vector size="14" baseType="lpstr">
      <vt:lpstr>Arial</vt:lpstr>
      <vt:lpstr>Calibri</vt:lpstr>
      <vt:lpstr>Calibri Light</vt:lpstr>
      <vt:lpstr>Times New Roman</vt:lpstr>
      <vt:lpstr>Ретро</vt:lpstr>
      <vt:lpstr>Модели управления запасами</vt:lpstr>
      <vt:lpstr>Презентация PowerPoint</vt:lpstr>
      <vt:lpstr>Роль управления запасами в экономике</vt:lpstr>
      <vt:lpstr>Классификация моделей</vt:lpstr>
      <vt:lpstr>Классическая задача экономичного размера заказа</vt:lpstr>
      <vt:lpstr>Рандомизированная модель</vt:lpstr>
      <vt:lpstr>Стохастическая модель</vt:lpstr>
      <vt:lpstr>Заключение</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Квантовая хромодинамика</dc:title>
  <dc:creator>Владислав Чинин</dc:creator>
  <cp:lastModifiedBy>Владислав Чинин</cp:lastModifiedBy>
  <cp:revision>30</cp:revision>
  <dcterms:created xsi:type="dcterms:W3CDTF">2023-04-16T20:55:37Z</dcterms:created>
  <dcterms:modified xsi:type="dcterms:W3CDTF">2024-12-27T04:46:59Z</dcterms:modified>
</cp:coreProperties>
</file>