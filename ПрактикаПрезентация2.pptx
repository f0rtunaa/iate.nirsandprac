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9" r:id="rId5"/>
    <p:sldId id="260" r:id="rId6"/>
    <p:sldId id="266" r:id="rId7"/>
    <p:sldId id="270" r:id="rId8"/>
    <p:sldId id="271" r:id="rId9"/>
    <p:sldId id="272" r:id="rId10"/>
    <p:sldId id="273" r:id="rId11"/>
    <p:sldId id="267" r:id="rId12"/>
    <p:sldId id="274" r:id="rId13"/>
    <p:sldId id="268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D2D-A438-4407-BA8E-B6BA2E5AFBFF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099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D2D-A438-4407-BA8E-B6BA2E5AFBFF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11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D2D-A438-4407-BA8E-B6BA2E5AFBFF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78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D2D-A438-4407-BA8E-B6BA2E5AFBFF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62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D2D-A438-4407-BA8E-B6BA2E5AFBFF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41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D2D-A438-4407-BA8E-B6BA2E5AFBFF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3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D2D-A438-4407-BA8E-B6BA2E5AFBFF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922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2413D2D-A438-4407-BA8E-B6BA2E5AFBFF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85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D2D-A438-4407-BA8E-B6BA2E5AFBFF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5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D2D-A438-4407-BA8E-B6BA2E5AFBFF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840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D2D-A438-4407-BA8E-B6BA2E5AFBFF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130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13D2D-A438-4407-BA8E-B6BA2E5AFBFF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68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A97FD-5006-9190-57CE-C16736CF3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579994"/>
            <a:ext cx="10058400" cy="1928264"/>
          </a:xfrm>
        </p:spPr>
        <p:txBody>
          <a:bodyPr>
            <a:normAutofit/>
          </a:bodyPr>
          <a:lstStyle/>
          <a:p>
            <a:pPr algn="ctr"/>
            <a:r>
              <a:rPr lang="ru-RU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Стохастическая </a:t>
            </a:r>
            <a:r>
              <a:rPr lang="ru-RU" sz="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трехпродуктовая</a:t>
            </a:r>
            <a:r>
              <a:rPr lang="ru-RU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управления запасами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53785-B4A8-DB21-B84C-7B4EAF3D81BA}"/>
              </a:ext>
            </a:extLst>
          </p:cNvPr>
          <p:cNvSpPr txBox="1"/>
          <p:nvPr/>
        </p:nvSpPr>
        <p:spPr>
          <a:xfrm>
            <a:off x="5058126" y="4354676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Чинин В.С. М-Б21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Ермаков С.В.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Прикладная математика и информатика</a:t>
            </a:r>
          </a:p>
        </p:txBody>
      </p:sp>
    </p:spTree>
    <p:extLst>
      <p:ext uri="{BB962C8B-B14F-4D97-AF65-F5344CB8AC3E}">
        <p14:creationId xmlns:p14="http://schemas.microsoft.com/office/powerpoint/2010/main" val="202251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A3DEF5-C1C3-293E-F358-BC820A5C42C9}"/>
              </a:ext>
            </a:extLst>
          </p:cNvPr>
          <p:cNvSpPr txBox="1"/>
          <p:nvPr/>
        </p:nvSpPr>
        <p:spPr>
          <a:xfrm>
            <a:off x="3345166" y="567245"/>
            <a:ext cx="5267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 НИР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4A6326-223B-3C71-90EA-C90134D23D6E}"/>
              </a:ext>
            </a:extLst>
          </p:cNvPr>
          <p:cNvSpPr txBox="1"/>
          <p:nvPr/>
        </p:nvSpPr>
        <p:spPr>
          <a:xfrm>
            <a:off x="1475172" y="2418697"/>
            <a:ext cx="9241655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Цели: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математическую модель, описывающую динамику расходования ресурсов.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ru-RU" sz="24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оптимальные моменты и объемы пополнения запасов.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ru-RU" sz="24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экономическую эффективность предложенной стратегии.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Сделать программную реализацию</a:t>
            </a:r>
            <a:r>
              <a:rPr lang="ru-RU" sz="24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практического применения."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37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63E2F4-32A0-8339-24B1-2DD42501D353}"/>
              </a:ext>
            </a:extLst>
          </p:cNvPr>
          <p:cNvSpPr txBox="1"/>
          <p:nvPr/>
        </p:nvSpPr>
        <p:spPr>
          <a:xfrm>
            <a:off x="1066800" y="1892072"/>
            <a:ext cx="9926715" cy="30738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Производство использует три ресурса</a:t>
            </a:r>
          </a:p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Ресурсы расходуются ежедневно</a:t>
            </a:r>
          </a:p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Первый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ресурс закупается полностью</a:t>
            </a:r>
          </a:p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Второй и третий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частично, с возможностью единовременного пополнения </a:t>
            </a:r>
          </a:p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Пополнение возможно только в моменты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400" i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ru-RU" sz="24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endParaRPr lang="ru-RU" sz="2400" i="1" baseline="-25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39A73-38F8-2957-A121-F6F155619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48714"/>
            <a:ext cx="10058400" cy="104767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Производственная система и её ограничения</a:t>
            </a:r>
          </a:p>
        </p:txBody>
      </p:sp>
    </p:spTree>
    <p:extLst>
      <p:ext uri="{BB962C8B-B14F-4D97-AF65-F5344CB8AC3E}">
        <p14:creationId xmlns:p14="http://schemas.microsoft.com/office/powerpoint/2010/main" val="2277403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16BF5-88A6-E087-0B1C-43CA16A28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9903"/>
            <a:ext cx="10058400" cy="100357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 модели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7B1B0-4C78-3616-B5D8-0AA5B7F6016C}"/>
              </a:ext>
            </a:extLst>
          </p:cNvPr>
          <p:cNvSpPr txBox="1"/>
          <p:nvPr/>
        </p:nvSpPr>
        <p:spPr>
          <a:xfrm>
            <a:off x="1207363" y="1926454"/>
            <a:ext cx="9917837" cy="3420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объем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ого ресурса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стоимость единицы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ого ресурса 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 -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период использования каждого вида ресурса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en-US" sz="2000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средние значения в единицу времени случайных величин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en-US" sz="2000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q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/T)</a:t>
            </a:r>
          </a:p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el-G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σ</a:t>
            </a:r>
            <a:r>
              <a:rPr lang="en-US" sz="2000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​ 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—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дисперсии в единицу времени случайных величин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endParaRPr lang="ru-RU" sz="2000" baseline="-25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000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объем средств на покупку ресурсов,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000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≤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ru-RU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ru-RU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+ d</a:t>
            </a:r>
            <a:r>
              <a:rPr lang="ru-RU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ru-RU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 d</a:t>
            </a:r>
            <a:r>
              <a:rPr lang="ru-RU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ru-RU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 </a:t>
            </a:r>
          </a:p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доля второго ресурса,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&lt; 1</a:t>
            </a:r>
          </a:p>
          <a:p>
            <a:pPr marL="285750" indent="-285750" algn="just">
              <a:lnSpc>
                <a:spcPct val="137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доля третьего ресурса,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&lt;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C7A1E8-C375-CF75-5B2B-2786CFF9393C}"/>
              </a:ext>
            </a:extLst>
          </p:cNvPr>
          <p:cNvSpPr txBox="1"/>
          <p:nvPr/>
        </p:nvSpPr>
        <p:spPr>
          <a:xfrm>
            <a:off x="2041864" y="5610331"/>
            <a:ext cx="6977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ru-RU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ru-RU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+ k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ru-RU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ru-RU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 k</a:t>
            </a:r>
            <a:r>
              <a:rPr lang="ru-RU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ru-RU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ru-RU" sz="24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2400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67447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DCBA3B-DF71-F0FC-AB61-70048CF5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02574"/>
            <a:ext cx="10058400" cy="917046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спроса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713FC3-D7A7-8ED9-AA9B-6168365A5A7B}"/>
              </a:ext>
            </a:extLst>
          </p:cNvPr>
          <p:cNvSpPr txBox="1"/>
          <p:nvPr/>
        </p:nvSpPr>
        <p:spPr>
          <a:xfrm>
            <a:off x="1066799" y="2427076"/>
            <a:ext cx="32655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 + </a:t>
            </a:r>
            <a:r>
              <a:rPr lang="el-G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 + </a:t>
            </a:r>
            <a:r>
              <a:rPr lang="el-G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 + </a:t>
            </a:r>
            <a:r>
              <a:rPr lang="el-G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B36489-42E4-C84D-9759-88D3A0D834E7}"/>
              </a:ext>
            </a:extLst>
          </p:cNvPr>
          <p:cNvSpPr txBox="1"/>
          <p:nvPr/>
        </p:nvSpPr>
        <p:spPr>
          <a:xfrm>
            <a:off x="5378794" y="2789897"/>
            <a:ext cx="782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»»</a:t>
            </a:r>
          </a:p>
          <a:p>
            <a:endParaRPr lang="ru-R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44B8A-FE37-6BDB-DCFA-3927686A803E}"/>
              </a:ext>
            </a:extLst>
          </p:cNvPr>
          <p:cNvSpPr txBox="1"/>
          <p:nvPr/>
        </p:nvSpPr>
        <p:spPr>
          <a:xfrm>
            <a:off x="748684" y="4909599"/>
            <a:ext cx="5051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винеровский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процесс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2D901F-72DE-6BDF-571E-B7E843CFA925}"/>
                  </a:ext>
                </a:extLst>
              </p:cNvPr>
              <p:cNvSpPr txBox="1"/>
              <p:nvPr/>
            </p:nvSpPr>
            <p:spPr>
              <a:xfrm>
                <a:off x="7121371" y="2393058"/>
                <a:ext cx="4003829" cy="1655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</a:t>
                </a:r>
                <a:r>
                  <a:rPr lang="el-GR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+ </a:t>
                </a:r>
                <a:r>
                  <a:rPr lang="el-GR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 Ɛ;</a:t>
                </a: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</a:t>
                </a:r>
                <a:r>
                  <a:rPr lang="el-GR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+ </a:t>
                </a:r>
                <a:r>
                  <a:rPr lang="el-GR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 Ɛ;</a:t>
                </a: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</a:t>
                </a:r>
                <a:r>
                  <a:rPr lang="el-GR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+ </a:t>
                </a:r>
                <a:r>
                  <a:rPr lang="el-GR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 Ɛ;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2D901F-72DE-6BDF-571E-B7E843CFA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371" y="2393058"/>
                <a:ext cx="4003829" cy="1655453"/>
              </a:xfrm>
              <a:prstGeom prst="rect">
                <a:avLst/>
              </a:prstGeom>
              <a:blipFill>
                <a:blip r:embed="rId2"/>
                <a:stretch>
                  <a:fillRect l="-3805" t="-3321" b="-110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933A8EE-9B26-CB4D-55E4-0BC88385525F}"/>
              </a:ext>
            </a:extLst>
          </p:cNvPr>
          <p:cNvSpPr txBox="1"/>
          <p:nvPr/>
        </p:nvSpPr>
        <p:spPr>
          <a:xfrm>
            <a:off x="6096000" y="4909599"/>
            <a:ext cx="54804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Ɛ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стандартная нормальная случайная величина с параметрами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M(Ɛ) = 0, M(Ɛ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1.</a:t>
            </a:r>
            <a:endParaRPr lang="ru-RU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83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CB4E2-4C1E-8AAF-E2BB-01C1E16BA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17046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 пополнения ресурсов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CBF67-29A1-F1E7-E0DE-2F012426FAA4}"/>
              </a:ext>
            </a:extLst>
          </p:cNvPr>
          <p:cNvSpPr txBox="1"/>
          <p:nvPr/>
        </p:nvSpPr>
        <p:spPr>
          <a:xfrm>
            <a:off x="1198485" y="2334827"/>
            <a:ext cx="9957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43CEF9-F033-772D-A571-F7199D985883}"/>
              </a:ext>
            </a:extLst>
          </p:cNvPr>
          <p:cNvSpPr txBox="1"/>
          <p:nvPr/>
        </p:nvSpPr>
        <p:spPr>
          <a:xfrm>
            <a:off x="6560600" y="1823342"/>
            <a:ext cx="4595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1BF40-7AA1-692A-F62C-CA78F3736F7B}"/>
              </a:ext>
            </a:extLst>
          </p:cNvPr>
          <p:cNvSpPr txBox="1"/>
          <p:nvPr/>
        </p:nvSpPr>
        <p:spPr>
          <a:xfrm>
            <a:off x="1097279" y="1843188"/>
            <a:ext cx="99571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ru-RU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(t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+ d</a:t>
            </a:r>
            <a:r>
              <a:rPr lang="ru-RU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(t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 d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(t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= a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(1 - k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+ a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(1 - k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r>
              <a:rPr lang="ru-RU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3200" baseline="-25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ru-RU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(t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+ d</a:t>
            </a:r>
            <a:r>
              <a:rPr lang="ru-RU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(t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 d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(t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= a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(1 - k</a:t>
            </a:r>
            <a:r>
              <a:rPr lang="en-US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</a:t>
            </a:r>
            <a:r>
              <a:rPr lang="ru-RU" sz="32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AD1429-7A4E-83E4-6183-6E49BB48DC9E}"/>
              </a:ext>
            </a:extLst>
          </p:cNvPr>
          <p:cNvSpPr txBox="1"/>
          <p:nvPr/>
        </p:nvSpPr>
        <p:spPr>
          <a:xfrm>
            <a:off x="1097280" y="3412045"/>
            <a:ext cx="10058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Обозначения: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дефицит второго ресурса в стоимостном выражении, где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дефицит третьего ресурса в стоимостном выражении, где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доля второго ресурса в начальный момент времени </a:t>
            </a:r>
            <a:r>
              <a:rPr lang="ru-RU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доля третьего ресурса в начальный момент времени </a:t>
            </a:r>
            <a:r>
              <a:rPr lang="ru-RU" sz="22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325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01672-8139-EA51-1860-81C5BB408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C50C6-4639-E1F2-B070-D1CB81EA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17046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 пополнения ресурсов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DA461C-ADB9-4D7C-912E-A066122A706E}"/>
                  </a:ext>
                </a:extLst>
              </p:cNvPr>
              <p:cNvSpPr txBox="1"/>
              <p:nvPr/>
            </p:nvSpPr>
            <p:spPr>
              <a:xfrm>
                <a:off x="1097280" y="1819922"/>
                <a:ext cx="9957195" cy="1629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 результате получим следующие уравнения: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32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32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cƐ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3200" dirty="0"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3200" baseline="-25000" dirty="0"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(1 - k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+ a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(1 - k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);</a:t>
                </a:r>
                <a:r>
                  <a:rPr lang="ru-RU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3200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32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cƐ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3200" dirty="0"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3200" baseline="-25000" dirty="0"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(1 - k</a:t>
                </a:r>
                <a:r>
                  <a:rPr lang="en-US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3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ru-RU" sz="3200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3200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DA461C-ADB9-4D7C-912E-A066122A7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1819922"/>
                <a:ext cx="9957195" cy="1629742"/>
              </a:xfrm>
              <a:prstGeom prst="rect">
                <a:avLst/>
              </a:prstGeom>
              <a:blipFill>
                <a:blip r:embed="rId2"/>
                <a:stretch>
                  <a:fillRect l="-1531" t="-5243" b="-112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3E76ED4-70EA-8198-7B52-A476FBB9D7F8}"/>
              </a:ext>
            </a:extLst>
          </p:cNvPr>
          <p:cNvSpPr txBox="1"/>
          <p:nvPr/>
        </p:nvSpPr>
        <p:spPr>
          <a:xfrm>
            <a:off x="1097280" y="3852872"/>
            <a:ext cx="10058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Обозначения: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b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b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l-G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l-G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b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l-G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l-G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l-G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l-G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4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782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9BA8D-5E68-22DA-8289-9F3929CB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F4061-1CAB-3498-754A-2AC94DF4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17046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 пополнения ресурсов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75D3A-1E7D-0F86-257B-6539CBE464B5}"/>
              </a:ext>
            </a:extLst>
          </p:cNvPr>
          <p:cNvSpPr txBox="1"/>
          <p:nvPr/>
        </p:nvSpPr>
        <p:spPr>
          <a:xfrm>
            <a:off x="1198485" y="2334827"/>
            <a:ext cx="9957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B845B3-D467-78E6-3487-860E6EF01C98}"/>
              </a:ext>
            </a:extLst>
          </p:cNvPr>
          <p:cNvSpPr txBox="1"/>
          <p:nvPr/>
        </p:nvSpPr>
        <p:spPr>
          <a:xfrm>
            <a:off x="6560600" y="1823342"/>
            <a:ext cx="4595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0E42A-F212-27DD-FAF3-98AC1C6E34E7}"/>
              </a:ext>
            </a:extLst>
          </p:cNvPr>
          <p:cNvSpPr txBox="1"/>
          <p:nvPr/>
        </p:nvSpPr>
        <p:spPr>
          <a:xfrm>
            <a:off x="2016710" y="1823342"/>
            <a:ext cx="81585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Уравнения бездефицитности: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k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6CE0C3-96EA-D3A2-3979-5EE7BDDE836E}"/>
                  </a:ext>
                </a:extLst>
              </p:cNvPr>
              <p:cNvSpPr txBox="1"/>
              <p:nvPr/>
            </p:nvSpPr>
            <p:spPr>
              <a:xfrm>
                <a:off x="3387718" y="3215644"/>
                <a:ext cx="5578728" cy="1840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bt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Ɛ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aseline="-25000" dirty="0"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-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 +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-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);</m:t>
                              </m:r>
                              <m:r>
                                <m:rPr>
                                  <m:nor/>
                                </m:rPr>
                                <a:rPr lang="ru-RU" sz="2400" baseline="-250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 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  <m:r>
                                <m:rPr>
                                  <m:nor/>
                                </m:rPr>
                                <a:rPr lang="en-US" sz="2400" b="0" i="0" baseline="-2500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sz="2400" b="0" i="1" dirty="0" smtClean="0"/>
                                <m:t>Ɛ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aseline="-25000" dirty="0"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bt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Ɛ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aseline="-25000" dirty="0"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-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n-US" sz="2400" b="0" i="0" baseline="-2500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sz="2400" b="0" i="0" baseline="-2500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sz="2400" b="0" i="0" baseline="-2500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sz="2400" b="0" i="0" baseline="-2500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  <m:r>
                                <m:rPr>
                                  <m:nor/>
                                </m:rPr>
                                <a:rPr lang="en-US" sz="2400" b="0" i="1" baseline="-2500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Ɛ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aseline="-25000" dirty="0"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6CE0C3-96EA-D3A2-3979-5EE7BDDE8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718" y="3215644"/>
                <a:ext cx="5578728" cy="18401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218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90F4C-9D71-BF19-A46F-5FE9411AF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AAD486-8440-F7E0-D01A-79FB7F71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17046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 пополнения ресурсов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C84154-A86D-53F8-862C-334114F0C4A2}"/>
              </a:ext>
            </a:extLst>
          </p:cNvPr>
          <p:cNvSpPr txBox="1"/>
          <p:nvPr/>
        </p:nvSpPr>
        <p:spPr>
          <a:xfrm>
            <a:off x="1198485" y="2334827"/>
            <a:ext cx="9957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A9079-C818-1D82-31FB-7A7D353BF418}"/>
              </a:ext>
            </a:extLst>
          </p:cNvPr>
          <p:cNvSpPr txBox="1"/>
          <p:nvPr/>
        </p:nvSpPr>
        <p:spPr>
          <a:xfrm>
            <a:off x="6560600" y="1823342"/>
            <a:ext cx="4595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A706794-EB32-BF49-85D3-A7FBC1E30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463" y="2060402"/>
            <a:ext cx="4782217" cy="160042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2D8AA75-7061-6B82-3799-0633BFD4D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485" y="2008008"/>
            <a:ext cx="3667637" cy="170521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A4A5CF2-4D00-BE29-CD5F-88DDA7841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099" y="4478122"/>
            <a:ext cx="8973802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66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DF22-872F-4638-0D42-A3E814D8A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402A5-CB5E-E3F0-5C66-77EF915B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17046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6E48B6-9454-DE89-DCF6-89CCEB59E65F}"/>
              </a:ext>
            </a:extLst>
          </p:cNvPr>
          <p:cNvSpPr txBox="1"/>
          <p:nvPr/>
        </p:nvSpPr>
        <p:spPr>
          <a:xfrm>
            <a:off x="1198485" y="2334827"/>
            <a:ext cx="9957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5E295A-D859-5717-6926-DF7193288B4A}"/>
              </a:ext>
            </a:extLst>
          </p:cNvPr>
          <p:cNvSpPr txBox="1"/>
          <p:nvPr/>
        </p:nvSpPr>
        <p:spPr>
          <a:xfrm>
            <a:off x="6560600" y="1823342"/>
            <a:ext cx="4595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3735B2-079C-CFDB-23F4-1B161B918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93" y="2704159"/>
            <a:ext cx="10153777" cy="160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42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CB4E2-4C1E-8AAF-E2BB-01C1E16BA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17046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C6AC107-D2F4-7437-B745-7600F6032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10" y="1376039"/>
            <a:ext cx="11306799" cy="44383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A6E2DB-27D3-6043-0F77-C81359218DA4}"/>
              </a:ext>
            </a:extLst>
          </p:cNvPr>
          <p:cNvSpPr txBox="1"/>
          <p:nvPr/>
        </p:nvSpPr>
        <p:spPr>
          <a:xfrm>
            <a:off x="4687812" y="5814393"/>
            <a:ext cx="2529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0.408, k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0.202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299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7D01-3C48-0F72-1821-8072F1C0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1368A-E49D-BA30-B222-2E7A26351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17046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88A845-23BD-0709-2217-A8220EBA8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81" y="1203650"/>
            <a:ext cx="11431595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08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D53D7-1F05-9AB5-FA09-BB4AFA83E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95121"/>
            <a:ext cx="10058400" cy="98911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0AA82C-543F-82EB-8A7D-9ED581B7CEE3}"/>
              </a:ext>
            </a:extLst>
          </p:cNvPr>
          <p:cNvSpPr txBox="1"/>
          <p:nvPr/>
        </p:nvSpPr>
        <p:spPr>
          <a:xfrm>
            <a:off x="1097281" y="1862416"/>
            <a:ext cx="100583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изучения статьи была рассмотрена стохастическая модель управления запасами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трёхпродуктовой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производственной системы. Модель учитывает, что два из трёх ресурсов могут быть докуплены только один раз за цикл — в заранее неизвестные моменты времени.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Основу модели составляют аналитические выражения, связывающие параметры спроса, стоимости и объёма ресурсов с оптимальными долями их начального запаса. Момент времени докупки и оптимальный объём определяется через систему стохастических уравнений. Особое внимание уделено формулам для долей закупки и моментов докупки, а также оценке минимально необходимых оборотных средств, достаточных для бесперебойной работы системы.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предложенная модель представляет собой теоретически обоснованный и практически применимый инструмент для принятия решений в задачах управления запасами при наличии случайного спроса.</a:t>
            </a:r>
          </a:p>
        </p:txBody>
      </p:sp>
    </p:spTree>
    <p:extLst>
      <p:ext uri="{BB962C8B-B14F-4D97-AF65-F5344CB8AC3E}">
        <p14:creationId xmlns:p14="http://schemas.microsoft.com/office/powerpoint/2010/main" val="813400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8F41D4-9566-593C-6ED1-0446AAE1C1D7}"/>
              </a:ext>
            </a:extLst>
          </p:cNvPr>
          <p:cNvSpPr txBox="1"/>
          <p:nvPr/>
        </p:nvSpPr>
        <p:spPr>
          <a:xfrm>
            <a:off x="3084786" y="2598003"/>
            <a:ext cx="6022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93568422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2102</TotalTime>
  <Words>693</Words>
  <Application>Microsoft Office PowerPoint</Application>
  <PresentationFormat>Широкоэкранный</PresentationFormat>
  <Paragraphs>65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Wingdings</vt:lpstr>
      <vt:lpstr>Ретро</vt:lpstr>
      <vt:lpstr>Стохастическая трехпродуктовая модель управления запасами </vt:lpstr>
      <vt:lpstr>Презентация PowerPoint</vt:lpstr>
      <vt:lpstr>Производственная система и её ограничения</vt:lpstr>
      <vt:lpstr>Параметры модели</vt:lpstr>
      <vt:lpstr>Модель спроса</vt:lpstr>
      <vt:lpstr>Механизм пополнения ресурсов</vt:lpstr>
      <vt:lpstr>Механизм пополнения ресурсов</vt:lpstr>
      <vt:lpstr>Механизм пополнения ресурсов</vt:lpstr>
      <vt:lpstr>Механизм пополнения ресурсов</vt:lpstr>
      <vt:lpstr>Данные</vt:lpstr>
      <vt:lpstr>Результаты</vt:lpstr>
      <vt:lpstr>Результаты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Квантовая хромодинамика</dc:title>
  <dc:creator>Владислав Чинин</dc:creator>
  <cp:lastModifiedBy>Владислав Чинин</cp:lastModifiedBy>
  <cp:revision>76</cp:revision>
  <dcterms:created xsi:type="dcterms:W3CDTF">2023-04-16T20:55:37Z</dcterms:created>
  <dcterms:modified xsi:type="dcterms:W3CDTF">2025-04-25T11:43:30Z</dcterms:modified>
</cp:coreProperties>
</file>